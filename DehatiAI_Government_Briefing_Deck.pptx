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Inter"/>
              </a:defRPr>
            </a:pPr>
            <a:r>
              <a:t>DEHATIAI PLATFORM BRIEFING</a:t>
            </a:r>
          </a:p>
          <a:p>
            <a:pPr>
              <a:defRPr sz="3000" b="1">
                <a:solidFill>
                  <a:srgbClr val="F8FAFC"/>
                </a:solidFill>
                <a:latin typeface="Inter"/>
              </a:defRPr>
            </a:pPr>
            <a:r>
              <a:t>DehatiAI: Multilingual Agricultural Intelligence Platform for Punjab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An offline-resilient, AI-driven extension and market intelligence infrastructure designed for smallholder empowerment across Punjab's 36 districts.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29200"/>
            <a:ext cx="1036289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1663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PREPARED FOR: Government Evaluators &amp; Department of Agriculture (Punjab)   |   DATE: July 2026</a:t>
            </a:r>
            <a:br/>
            <a:r>
              <a:t>DEPLOYED URL: https://dehati-ai.vercel.app   |   STATUS: Shipped Production-Grade Platform (v1.0)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1. The Agricultural Information Gap in Punjab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24.0% GDP &amp; 37.4% Labor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Agriculture is the backbone of Punjab's economy, employing over 37% of the workforce, yet extension services remain severely under-resourced.</a:t>
            </a:r>
            <a:br/>
            <a:r>
              <a:t>(Source: Pakistan Economic Survey 2023-24)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35% - 40% Crop Yield Loss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Smallholders suffer 35-40% annual yield loss due to delayed disease identification, incorrect chemical dosage, and pest outbreaks.</a:t>
            </a:r>
            <a:br/>
            <a:r>
              <a:t>(Source: UN FAO &amp; PARC Reports)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46% Rural Connectivity Gap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46% of rural areas lack continuous 4G connectivity. Conventional cloud-only apps fail when connection drops in fields.</a:t>
            </a:r>
            <a:br/>
            <a:r>
              <a:t>(Source: PTA Telecom Indicators 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60704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Key Structural Bottlenecks in Current Advisory Delivery: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Language &amp; Literacy Barrier: Over 50% rural illiteracy. Existing solutions rely on text-heavy English/Urdu menus rather than voice interaction.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Mandi Asymmetry: Information gaps between Mandi commission agents (Arhtis) and farmers lead to 15-20% margin loss at farm-gate sales.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High Extension Ratio: Ratio of official Extension Officers to farmers in Punjab is ~1:1,500, preventing timely on-field physical consultations.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2. The Solution: DehatiAI 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3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DehatiAI is a voice-enabled, offline-resilient digital extension platform that translates expert-level agricultural intelligence into spoken Urdu and Punjabi for smallholder farmers.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603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🗣️ Multilingual Voice Engine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Voice recognition in Urdu (ur-PK) and Punjabi (pa-PK) with audio synthesis so low-literacy farmers listen to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834640"/>
            <a:ext cx="25603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🔬 Vision Disease Scanner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Claude 3.5 Sonnet Vision inspects leaf lesions, diagnosing rusts/blights and issuing Pakistan-registered spray remedies.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834640"/>
            <a:ext cx="25603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📈 Mandi Price Transparency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Real-time daily prices for 15+ major commodities (Wheat, Rice, Cotton, Sugarcane) with historical trend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834640"/>
            <a:ext cx="25603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🚨 Emergency Alert Dispatch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Admin broadcast system sending targeted SMS/PWA warnings for locusts, frost, or severe weather by district.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3. Core Functionality Shipped in Codebase (v1.0)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4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🌾 AI Agricultural Advisory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Interactive Q&amp;A engine trained on local crops, soil types, and seasonal calendar (Kharif/Rabi).</a:t>
            </a:r>
          </a:p>
          <a:p>
            <a:pPr>
              <a:spcBef>
                <a:spcPts val="800"/>
              </a:spcBef>
              <a:defRPr sz="900">
                <a:solidFill>
                  <a:srgbClr val="F59E0B"/>
                </a:solidFill>
              </a:defRPr>
            </a:pPr>
            <a:r>
              <a:t>Code Module: ai.js /ask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600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📷 Crop Disease Scanner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Computer vision model detecting Wheat Rust, Cotton Leaf Curl, Blight with dosage instructions.</a:t>
            </a:r>
          </a:p>
          <a:p>
            <a:pPr>
              <a:spcBef>
                <a:spcPts val="800"/>
              </a:spcBef>
              <a:defRPr sz="900">
                <a:solidFill>
                  <a:srgbClr val="F59E0B"/>
                </a:solidFill>
              </a:defRPr>
            </a:pPr>
            <a:r>
              <a:t>Code Module: ai.js /disease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600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🌤️ Localized Weather &amp; Forecast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Open-Meteo API integration with 8-second timeout guard and seasonal fallback logic.</a:t>
            </a:r>
          </a:p>
          <a:p>
            <a:pPr>
              <a:spcBef>
                <a:spcPts val="800"/>
              </a:spcBef>
              <a:defRPr sz="900">
                <a:solidFill>
                  <a:srgbClr val="F59E0B"/>
                </a:solidFill>
              </a:defRPr>
            </a:pPr>
            <a:r>
              <a:t>Code Module: weather.js /weather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📊 Mandi Market Prices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Live price tracking for 15 commodities per 40kg (من) backed by admin override database.</a:t>
            </a:r>
          </a:p>
          <a:p>
            <a:pPr>
              <a:spcBef>
                <a:spcPts val="800"/>
              </a:spcBef>
              <a:defRPr sz="900">
                <a:solidFill>
                  <a:srgbClr val="F59E0B"/>
                </a:solidFill>
              </a:defRPr>
            </a:pPr>
            <a:r>
              <a:t>Code Module: admin.js /prices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84048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3977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🧮 Seed Rate &amp; Spray Calculator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Custom mathematical tools calculating exact seed, DAP, and Urea quantity per Acre/Kanal.</a:t>
            </a:r>
          </a:p>
          <a:p>
            <a:pPr>
              <a:spcBef>
                <a:spcPts val="800"/>
              </a:spcBef>
              <a:defRPr sz="900">
                <a:solidFill>
                  <a:srgbClr val="F59E0B"/>
                </a:solidFill>
              </a:defRPr>
            </a:pPr>
            <a:r>
              <a:t>Code Module: MorePage.jsx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84048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3977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📆 Harvest &amp; Rotation Advisor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Countdown tool for crop maturity and agronomic crop rotation advisory for soil health.</a:t>
            </a:r>
          </a:p>
          <a:p>
            <a:pPr>
              <a:spcBef>
                <a:spcPts val="800"/>
              </a:spcBef>
              <a:defRPr sz="900">
                <a:solidFill>
                  <a:srgbClr val="F59E0B"/>
                </a:solidFill>
              </a:defRPr>
            </a:pPr>
            <a:r>
              <a:t>Code Module: CropAdvisor.jsx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4. Technical Architecture &amp; Component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5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CLIENT LAYER (PWA)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Vite + React 19 Progressive Web App</a:t>
            </a:r>
            <a:br/>
            <a:r>
              <a:t>• Service Worker shell caching (offline support)</a:t>
            </a:r>
            <a:br/>
            <a:r>
              <a:t>• Native Web Speech API (ur-PK / pa-PK)</a:t>
            </a:r>
            <a:br/>
            <a:r>
              <a:t>• Noto Nastaliq Urdu Typography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API &amp; ROUTER LAYER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Node.js Express Server (v20+ Engine)</a:t>
            </a:r>
            <a:br/>
            <a:r>
              <a:t>• Rate Limiter (30 AI calls/hr/IP)</a:t>
            </a:r>
            <a:br/>
            <a:r>
              <a:t>• Agriculture Keyword Guardrail Filter</a:t>
            </a:r>
            <a:br/>
            <a:r>
              <a:t>• SSE Stream Heartbeat for live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INTELLIGENCE LAYER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Anthropic Claude 3.5 Sonnet Vision</a:t>
            </a:r>
            <a:br/>
            <a:r>
              <a:t>• Model: claude-3-5-sonnet-20241022</a:t>
            </a:r>
            <a:br/>
            <a:r>
              <a:t>• 5-minute Ephemeral System Prompt Cache</a:t>
            </a:r>
            <a:br/>
            <a:r>
              <a:t>• Vision analysis protocol for plant diseases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4155"/>
                </a:solidFill>
              </a:defRPr>
            </a:pPr>
            <a:r>
              <a:t>DATA &amp; PERSISTENCE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PostgreSQL Pool on Railway + Supabase</a:t>
            </a:r>
            <a:br/>
            <a:r>
              <a:t>• L1 Memory Map + L2 Postgres Cache</a:t>
            </a:r>
            <a:br/>
            <a:r>
              <a:t>• Audit Logging (admin_audit_logs)</a:t>
            </a:r>
            <a:br/>
            <a:r>
              <a:t>• Automatic DB fallback to memory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5. Data Integrity, Sourcing &amp; Safety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6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🎯 Agronomic Guardrail Filter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Code Module: routes/ai.js (isAgricultureRelated)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Every user query passes through a strict keyword guardrail (AGRI_KEYWORDS_UR / EN / ROMAN). Non-agriculture topics (politics, entertainment) are immediately rejected with a polite Urdu boundary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🌤️ Weather Resiliency &amp; Fallback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Code Module: routes/weather.js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Integrated with Open-Meteo API using an 8-second AbortSignal timeout. If API is unreachable, the system automatically falls back to seasonal temperature estimates for Punjab so the UI never crashes.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📊 Mandi Price Sourcing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Code Module: routes/admin.js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Combines base benchmark commodity rates with an Admin Database Override layer. Admins can update verified Mandi rates per district. (Note: Direct AMIS Punjab API feed integration is in progress).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4048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💊 Chemical Prescription Safety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Code Module: routes/ai.js System Prompts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Claude Vision AI system prompts restrict disease treatments strictly to chemicals registered and available in Pakistan (e.g. Topsin-M, Bifenthrin, Urea). Unclear cases trigger Helpline 0800-15000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6. Financial Operating Cost Audit (Code Verified)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7 of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011680"/>
                <a:gridCol w="1280160"/>
                <a:gridCol w="1371600"/>
                <a:gridCol w="1493215"/>
              </a:tblGrid>
              <a:tr h="386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Purpose / Stack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Prototype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500 DAU (Mo)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5,000 DAU (Mo)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Anthropic Claude 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AI Chat, Vision, Disease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Per-Token Usage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$2.50 (Rs. 695)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$157.50 (Rs. 43.7k)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$1,125.00 (Rs. 312k)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Railway App 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Express API Node.js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Compute (CPU/RAM)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$12.00 (Rs. 3.3k)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$45.00 (Rs. 12.5k)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Railway PostgreSQL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Primary Database &amp; L2 Cache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Included in Railway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Vercel PWA Hosting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Frontend Static Asset CDN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Bandwidth &amp; Builds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$20.00 (Rs. 5.5k)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Supabase Auth/Backup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Secondary Fallback Storage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50k MAU Free Tier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Open-Meteo Weather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Weather Forecast Feed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Free Public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AMIS Mandi Feed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Commodity Market Rates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Internal DB Storage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TOTAL BUDGET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Complete Infrastructure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Combined Operating Spend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Rs. 695 / mo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Rs. 47,400 / mo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Rs. 331,100 / mo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⚡ Key Cost Optimization Insight: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Anthropic Claude API accounts for ~94% of operational spend. Ephemeral System Prompt Caching (implemented in ai.js) cuts input token costs by 90%. Switching routine text queries to Google Gemini 2.0 Flash would reduce 5,000 DAU AI spend from Rs. 312,750 down to Rs. 11,675 /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7. Security Architecture &amp; Administrative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8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🔒 Authentication &amp; JWT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jsonwebtoken + bcryptjs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Farmer sessions use signed JWT tokens with 30-day expiration. Passwords hashed using bcryptjs (12 rounds). Guest mode creates isolated non-persistent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🛡️ Rate Limiting Safeguards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express-rate-limit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Global API limit of 200 req/15min per IP. AI endpoints enforced at 30 calls/hr per IP to protect against token exhaustion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📋 Immutable Audit Logging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admin_audit_logs table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Every sensitive admin action (price update, user deletion, cache flush, alert dispatch) logs admin_id, IP address, action_type, and timestamp.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40480"/>
            <a:ext cx="525780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⚠️ Honest Status (In Progress)</a:t>
            </a:r>
          </a:p>
          <a:p>
            <a:pPr>
              <a:spcBef>
                <a:spcPts val="200"/>
              </a:spcBef>
              <a:defRPr sz="900" b="1">
                <a:solidFill>
                  <a:srgbClr val="94A3B8"/>
                </a:solidFill>
              </a:defRPr>
            </a:pPr>
            <a:r>
              <a:t>Security Road Map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Current authentication uses JWT secret fallback in dev mode. Production deployment requires mandatory exit if JWT_SECRET environment variable is missing.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8. Projected Social &amp; Economic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9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🌾 25% Reduction in Pre-Harvest Loss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Early computer vision detection of crop diseases allows intervention before fungal spores spread across fields, saving smallholders up to 25% of yield.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459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💰 12-15% Income Margin Boost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Real-time Mandi price transparency eliminates information asymmetry when negotiating with commission agents (Arhtis) at farm-gate.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📢 Instant Disaster Communication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District Emergency Alert Dispatcher allows provincial authorities to broadcast locust or frost warnings to thousands of farmers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40480"/>
            <a:ext cx="525780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02336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🌐 UN SDG Alignment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Directly advances UN Sustainable Development Goals: #1 No Poverty, #2 Zero Hunger, #8 Decent Work, and #13 Climate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9. Product Roadmap: Shipped vs. Future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10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SHIPPED TODAY (v1.0 Codebase)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Multilingual Voice Q&amp;A Engine (Urdu &amp; Punjabi)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Claude 3.5 Sonnet Vision Crop Disease Scanner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Open-Meteo Weather API + Timeout/Fallback Guard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Mandi Commodity Prices &amp; Admin Management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2-Tier Cache (L1 Memory + L2 PostgreSQL)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Admin Panel: AI Cost Tracker &amp; Audit Log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District Emergency Broadcast Alert Dispatcher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PWA Offline Shell &amp; Noto Nastaliq Urdu Fonts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🚀 FUTURE ROADMAP (Planned)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WhatsApp Cloud API Integration (Voice message support via WhatsApp)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Direct AMIS Punjab Market API Feed Synchronization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IoT Soil Moisture &amp; NPK Sensor Bluetooth Sync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Satellite Vegetation Index (NDVI) Remote Sensing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LLM Migration to Gemini 2.0 Flash (96% Cost Savings)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• Offline Native Android APK Packaging via Capacitor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Inter"/>
              </a:defRPr>
            </a:pPr>
            <a:r>
              <a:t>GOVERNMENT TECHNICAL BRIEFING</a:t>
            </a:r>
          </a:p>
          <a:p>
            <a:pPr>
              <a:defRPr sz="2200" b="1">
                <a:solidFill>
                  <a:srgbClr val="F8FAFC"/>
                </a:solidFill>
                <a:latin typeface="Inter"/>
              </a:defRPr>
            </a:pPr>
            <a:r>
              <a:t>10. Proposed Next Steps &amp; Government Collaboration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11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1. Pilot District Access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Request authorization for a 3-month pilot deployment in Multan and Khanewal districts targeting 10,000 smallholders.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2. Official AMIS Data Access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Establish direct API connection with Punjab Agriculture Marketing Regulatory Authority (PAMRA) for automated Mandi rate syncing.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Extension Officer Integration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Equip local Field Extension Officers with DehatiAI Admin access to dispatch localized disease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4. Infrastructure Co-Location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Transition backend hosting from Railway/Vercel to Punjab Information Technology Board (PITB) cloud data centers.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DEHATIAI PLATFORM BRIEFING</a:t>
            </a:r>
          </a:p>
          <a:p>
            <a:pPr>
              <a:spcBef>
                <a:spcPts val="600"/>
              </a:spcBef>
              <a:defRPr sz="3000" b="1">
                <a:solidFill>
                  <a:srgbClr val="F8FAFC"/>
                </a:solidFill>
              </a:defRPr>
            </a:pPr>
            <a:r>
              <a:t>Empowering Every Acre Across Punjab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Thank you for evaluating DehatiAI. We are ready to deploy, integrate, and scale to transform agricultural extension for smallholders in Pakistan.</a:t>
            </a:r>
          </a:p>
          <a:p>
            <a:br/>
            <a:pPr>
              <a:spcBef>
                <a:spcPts val="1600"/>
              </a:spcBef>
              <a:defRPr sz="1100" b="1">
                <a:solidFill>
                  <a:srgbClr val="10B981"/>
                </a:solidFill>
              </a:defRPr>
            </a:pPr>
            <a:r>
              <a:t>LIVE DEMO PLATFORM: https://dehati-ai.vercel.app</a:t>
            </a:r>
            <a:br/>
            <a:r>
              <a:t>ADMIN CONTROL PANEL: https://dehati-ai.vercel.app/admin</a:t>
            </a:r>
            <a:br/>
            <a:r>
              <a:t>GITHUB REPOSITORY: https://github.com/jahanzaibahmad630-bit/Dehati-AI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Inter"/>
              </a:defRPr>
            </a:pPr>
            <a:r>
              <a:t>DehatiAI Platform Briefing  |  Official Evaluation Document  |  Page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
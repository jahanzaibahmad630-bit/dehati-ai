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10728655" cy="47548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B308"/>
                </a:solidFill>
                <a:latin typeface="Inter"/>
              </a:defRPr>
            </a:pPr>
            <a:r>
              <a:t>🌾 AGRO-DIGITAL HERITAGE BRIEFING  •  PUNJAB, PAKISTAN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  <a:latin typeface="Inter"/>
              </a:defRPr>
            </a:pPr>
            <a:r>
              <a:t>DehatiAI: Bridging Punjabi Agricultural Heritage with Advanced AI Infrastructure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Inter"/>
              </a:defRPr>
            </a:pPr>
            <a:r>
              <a:t>A voice-first, offline-resilient digital extension platform designed to empower smallholder farmers across Punjab's 36 districts through localized AI diagnostics and market transparency.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114800"/>
            <a:ext cx="3108960" cy="11887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42062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🌱 12.5M Smallholders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Target Beneficiary Population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4114800"/>
            <a:ext cx="3108960" cy="11887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2062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⚡ 90% Cost Reduction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Dual-Tier Cache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114800"/>
            <a:ext cx="3108960" cy="118872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42062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🗣️ Urdu &amp; Punjabi Native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Voice-First Multilingual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DehatiAI Platform  •  Agro-Digital Heritage Evaluation Briefing  •  Page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EAB308"/>
                </a:solidFill>
                <a:latin typeface="Inter"/>
              </a:defRPr>
            </a:pPr>
            <a:r>
              <a:t>🌿 AGRO-DIGITAL HERITAGE BRIEFING  |  PUNJAB AGRICULTURAL EXTENSION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Inter"/>
              </a:defRPr>
            </a:pPr>
            <a:r>
              <a:t>1. The Agricultural Information &amp; Yield Gap in Punjab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8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DehatiAI Platform  •  Agro-Digital Heritage Evaluation Briefing  •  Page 2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74720" cy="2011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AB308"/>
                </a:solidFill>
              </a:defRPr>
            </a:pPr>
            <a:r>
              <a:t>24.0% GDP Contribution</a:t>
            </a:r>
          </a:p>
          <a:p>
            <a:pPr>
              <a:spcBef>
                <a:spcPts val="200"/>
              </a:spcBef>
              <a:defRPr sz="1050" b="1">
                <a:solidFill>
                  <a:srgbClr val="FFFFFF"/>
                </a:solidFill>
              </a:defRPr>
            </a:pPr>
            <a:r>
              <a:t>37.4% National Labor Force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Agriculture is Punjab's economic spine, yet smallholders lack direct access to timely agronomic expert advice.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63040"/>
            <a:ext cx="3474720" cy="2011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6002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35% - 40% Crop Yield Loss</a:t>
            </a:r>
          </a:p>
          <a:p>
            <a:pPr>
              <a:spcBef>
                <a:spcPts val="200"/>
              </a:spcBef>
              <a:defRPr sz="1050" b="1">
                <a:solidFill>
                  <a:srgbClr val="FFFFFF"/>
                </a:solidFill>
              </a:defRPr>
            </a:pPr>
            <a:r>
              <a:t>Pre-Harvest Disease &amp; Pest Damage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Smallholders suffer 35-40% annual loss from delayed plant disease detection and pesticide misapplication.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463040"/>
            <a:ext cx="3474720" cy="2011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7304" y="16002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46% Rural Connectivity Gap</a:t>
            </a:r>
          </a:p>
          <a:p>
            <a:pPr>
              <a:spcBef>
                <a:spcPts val="200"/>
              </a:spcBef>
              <a:defRPr sz="1050" b="1">
                <a:solidFill>
                  <a:srgbClr val="FFFFFF"/>
                </a:solidFill>
              </a:defRPr>
            </a:pPr>
            <a:r>
              <a:t>Intermittent 2G/3G Network Coverage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46% of rural areas lack continuous 4G coverage. Cloud-only apps fail when internet drops in fields.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728655" cy="23774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8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03628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</a:defRPr>
            </a:pPr>
            <a:r>
              <a:t>Structural Obstacles Solved by Agro-Digital Infrastructure: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Language &amp; Literacy Friction: Over 50% rural illiteracy in Pakistan makes text-heavy English/Urdu apps unusable without voice.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Mandi Information Asymmetry: Information gaps between Mandi commission agents (Arhtis) and farmers cost 15-20% farm-gate margin.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• High Extension Ratio: Punjab Extension Officers to farmer ratio (~1:1,500) prevents timely physical visits during crop disease outbreaks.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EAB308"/>
                </a:solidFill>
                <a:latin typeface="Inter"/>
              </a:defRPr>
            </a:pPr>
            <a:r>
              <a:t>🌿 AGRO-DIGITAL HERITAGE BRIEFING  |  PUNJAB AGRICULTURAL EXTENSION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Inter"/>
              </a:defRPr>
            </a:pPr>
            <a:r>
              <a:t>2. The Solution: DehatiAI Agro-Digital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8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DehatiAI Platform  •  Agro-Digital Heritage Evaluation Briefing  •  Page 3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28655" cy="10972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t>DehatiAI is an offline-resilient, voice-first digital extension platform that translates expert agronomic intelligence into spoken Urdu and Punjabi for smallholder farmers across Pakistan.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2560320" cy="3291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8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AB308"/>
                </a:solidFill>
              </a:defRPr>
            </a:pPr>
            <a:r>
              <a:t>🗣️ Multilingual Voice Engine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Voice Q&amp;A recognition in Urdu (ur-PK) &amp; Punjabi (pa-PK) with audio synthesis output for zero-literacy usability.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2834640"/>
            <a:ext cx="2560320" cy="3291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8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297180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AB308"/>
                </a:solidFill>
              </a:defRPr>
            </a:pPr>
            <a:r>
              <a:t>🔬 Vision Disease Scanner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Claude 3.5 Sonnet Vision inspects leaf lesions, diagnosing Rusts/Blights &amp; prescribing Pakistan-registered remedies.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2834640"/>
            <a:ext cx="2560320" cy="3291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8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297180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AB308"/>
                </a:solidFill>
              </a:defRPr>
            </a:pPr>
            <a:r>
              <a:t>📈 Mandi Market Prices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Real-time market price tracking for 15+ major commodities (Wheat, Rice, Cotton, Sugarcane) with historical trend tracking.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2834640"/>
            <a:ext cx="2560320" cy="3291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8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43416" y="297180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AB308"/>
                </a:solidFill>
              </a:defRPr>
            </a:pPr>
            <a:r>
              <a:t>🚨 Emergency Dispatcher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District-targeted broadcast alert system sending emergency warnings for locusts, frost, or severe weather.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EAB308"/>
                </a:solidFill>
                <a:latin typeface="Inter"/>
              </a:defRPr>
            </a:pPr>
            <a:r>
              <a:t>🌿 AGRO-DIGITAL HERITAGE BRIEFING  |  PUNJAB AGRICULTURAL EXTENSION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Inter"/>
              </a:defRPr>
            </a:pPr>
            <a:r>
              <a:t>3. Core Functionality Shipped in Codebase (v1.0)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8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DehatiAI Platform  •  Agro-Digital Heritage Evaluation Briefing  •  Page 4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74720" cy="2148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8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🌾 AI Agricultural Advisory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Interactive Q&amp;A engine trained on local crops, soil types, and seasonal calendar (Kharif/Rabi).</a:t>
            </a:r>
          </a:p>
          <a:p>
            <a:pPr>
              <a:spcBef>
                <a:spcPts val="800"/>
              </a:spcBef>
              <a:defRPr sz="850">
                <a:solidFill>
                  <a:srgbClr val="EAB308"/>
                </a:solidFill>
              </a:defRPr>
            </a:pPr>
            <a:r>
              <a:t>Code Module: ai.js /ask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63040"/>
            <a:ext cx="3474720" cy="2148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8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600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📷 Crop Disease Scanner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Computer vision model detecting Wheat Rust, Cotton Leaf Curl, Blight with dosage instructions.</a:t>
            </a:r>
          </a:p>
          <a:p>
            <a:pPr>
              <a:spcBef>
                <a:spcPts val="800"/>
              </a:spcBef>
              <a:defRPr sz="850">
                <a:solidFill>
                  <a:srgbClr val="EAB308"/>
                </a:solidFill>
              </a:defRPr>
            </a:pPr>
            <a:r>
              <a:t>Code Module: ai.js /disease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463040"/>
            <a:ext cx="3474720" cy="2148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8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7304" y="1600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🌤️ Localized Weather &amp; Forecast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Open-Meteo API integration with 8-second timeout guard and seasonal fallback logic.</a:t>
            </a:r>
          </a:p>
          <a:p>
            <a:pPr>
              <a:spcBef>
                <a:spcPts val="800"/>
              </a:spcBef>
              <a:defRPr sz="850">
                <a:solidFill>
                  <a:srgbClr val="EAB308"/>
                </a:solidFill>
              </a:defRPr>
            </a:pPr>
            <a:r>
              <a:t>Code Module: weather.js /weather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474720" cy="2148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8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776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📊 Mandi Market Prices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Live price tracking for 15 commodities per 40kg (من) backed by admin override database.</a:t>
            </a:r>
          </a:p>
          <a:p>
            <a:pPr>
              <a:spcBef>
                <a:spcPts val="800"/>
              </a:spcBef>
              <a:defRPr sz="850">
                <a:solidFill>
                  <a:srgbClr val="EAB308"/>
                </a:solidFill>
              </a:defRPr>
            </a:pPr>
            <a:r>
              <a:t>Code Module: admin.js /prices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840480"/>
            <a:ext cx="3474720" cy="2148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8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9776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🧮 Seed Rate &amp; Spray Calculator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Custom mathematical tools calculating exact seed, DAP, and Urea quantity per Acre/Kanal.</a:t>
            </a:r>
          </a:p>
          <a:p>
            <a:pPr>
              <a:spcBef>
                <a:spcPts val="800"/>
              </a:spcBef>
              <a:defRPr sz="850">
                <a:solidFill>
                  <a:srgbClr val="EAB308"/>
                </a:solidFill>
              </a:defRPr>
            </a:pPr>
            <a:r>
              <a:t>Code Module: MorePage.jsx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3840480"/>
            <a:ext cx="3474720" cy="2148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8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7304" y="39776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📆 Harvest &amp; Rotation Advisor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Countdown tool for crop maturity and agronomic crop rotation advisory for soil health.</a:t>
            </a:r>
          </a:p>
          <a:p>
            <a:pPr>
              <a:spcBef>
                <a:spcPts val="800"/>
              </a:spcBef>
              <a:defRPr sz="850">
                <a:solidFill>
                  <a:srgbClr val="EAB308"/>
                </a:solidFill>
              </a:defRPr>
            </a:pPr>
            <a:r>
              <a:t>Code Module: CropAdvisor.jsx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EAB308"/>
                </a:solidFill>
                <a:latin typeface="Inter"/>
              </a:defRPr>
            </a:pPr>
            <a:r>
              <a:t>🌿 AGRO-DIGITAL HERITAGE BRIEFING  |  PUNJAB AGRICULTURAL EXTENSION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Inter"/>
              </a:defRPr>
            </a:pPr>
            <a:r>
              <a:t>4. Technical Architecture &amp; System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8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DehatiAI Platform  •  Agro-Digital Heritage Evaluation Briefing  •  Page 5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CLIENT LAYER (PWA)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Vite + React 19 Progressive Web App</a:t>
            </a:r>
            <a:br/>
            <a:r>
              <a:t>• Service Worker shell caching (offline support)</a:t>
            </a:r>
            <a:br/>
            <a:r>
              <a:t>• Native Web Speech API (ur-PK / pa-PK)</a:t>
            </a:r>
            <a:br/>
            <a:r>
              <a:t>• Noto Nastaliq Urdu Typography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728655" cy="105156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AB308"/>
                </a:solidFill>
              </a:defRPr>
            </a:pPr>
            <a:r>
              <a:t>API &amp; ROUTER LAYER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Node.js Express Server (v20+ Engine)</a:t>
            </a:r>
            <a:br/>
            <a:r>
              <a:t>• Rate Limiter (30 AI calls/hr/IP)</a:t>
            </a:r>
            <a:br/>
            <a:r>
              <a:t>• Agriculture Keyword Guardrail Filter</a:t>
            </a:r>
            <a:br/>
            <a:r>
              <a:t>• SSE Stream Heartbeat for live chat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INTELLIGENCE LAYER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Anthropic Claude 3.5 Sonnet Vision</a:t>
            </a:r>
            <a:br/>
            <a:r>
              <a:t>• Model: claude-3-5-sonnet-20241022</a:t>
            </a:r>
            <a:br/>
            <a:r>
              <a:t>• 5-minute Ephemeral System Prompt Cache</a:t>
            </a:r>
            <a:br/>
            <a:r>
              <a:t>• Vision analysis protocol for plant diseases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728655" cy="105156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6B6D4"/>
                </a:solidFill>
              </a:defRPr>
            </a:pPr>
            <a:r>
              <a:t>DATA &amp; PERSISTENCE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PostgreSQL Pool on Railway + Supabase</a:t>
            </a:r>
            <a:br/>
            <a:r>
              <a:t>• L1 Memory Map + L2 Postgres Cache</a:t>
            </a:r>
            <a:br/>
            <a:r>
              <a:t>• Audit Logging (admin_audit_logs)</a:t>
            </a:r>
            <a:br/>
            <a:r>
              <a:t>• Automatic DB fallback to memory 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EAB308"/>
                </a:solidFill>
                <a:latin typeface="Inter"/>
              </a:defRPr>
            </a:pPr>
            <a:r>
              <a:t>🌿 AGRO-DIGITAL HERITAGE BRIEFING  |  PUNJAB AGRICULTURAL EXTENSION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Inter"/>
              </a:defRPr>
            </a:pPr>
            <a:r>
              <a:t>5. Data Integrity, Sourcing &amp; Safety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8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DehatiAI Platform  •  Agro-Digital Heritage Evaluation Briefing  •  Page 6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🎯 Agronomic Guardrail Filter</a:t>
            </a:r>
          </a:p>
          <a:p>
            <a:pPr>
              <a:spcBef>
                <a:spcPts val="200"/>
              </a:spcBef>
              <a:defRPr sz="850" b="1">
                <a:solidFill>
                  <a:srgbClr val="94A3B8"/>
                </a:solidFill>
              </a:defRPr>
            </a:pPr>
            <a:r>
              <a:t>Code Module: routes/ai.js (isAgricultureRelated)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Every user query passes through a strict keyword guardrail (AGRI_KEYWORDS_UR / EN / ROMAN). Non-agriculture topics (politics, entertainment) are immediately rejected with a polite Urdu boundary message.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63040"/>
            <a:ext cx="5257800" cy="21488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6002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AB308"/>
                </a:solidFill>
              </a:defRPr>
            </a:pPr>
            <a:r>
              <a:t>🌤️ Weather Resiliency &amp; Fallback</a:t>
            </a:r>
          </a:p>
          <a:p>
            <a:pPr>
              <a:spcBef>
                <a:spcPts val="200"/>
              </a:spcBef>
              <a:defRPr sz="850" b="1">
                <a:solidFill>
                  <a:srgbClr val="94A3B8"/>
                </a:solidFill>
              </a:defRPr>
            </a:pPr>
            <a:r>
              <a:t>Code Module: routes/weather.js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Integrated with Open-Meteo API using an 8-second AbortSignal timeout. If API is unreachable, the system automatically falls back to seasonal temperature estimates for Punjab so the UI never crashes.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57800" cy="21488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📊 Mandi Price Sourcing</a:t>
            </a:r>
          </a:p>
          <a:p>
            <a:pPr>
              <a:spcBef>
                <a:spcPts val="200"/>
              </a:spcBef>
              <a:defRPr sz="850" b="1">
                <a:solidFill>
                  <a:srgbClr val="94A3B8"/>
                </a:solidFill>
              </a:defRPr>
            </a:pPr>
            <a:r>
              <a:t>Code Module: routes/admin.js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Combines base benchmark commodity rates with an Admin Database Override layer. Admins can update verified Mandi rates per district. (Note: Direct AMIS Punjab API feed integration is in progress).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840480"/>
            <a:ext cx="5257800" cy="21488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7764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💊 Chemical Prescription Safety</a:t>
            </a:r>
          </a:p>
          <a:p>
            <a:pPr>
              <a:spcBef>
                <a:spcPts val="200"/>
              </a:spcBef>
              <a:defRPr sz="850" b="1">
                <a:solidFill>
                  <a:srgbClr val="94A3B8"/>
                </a:solidFill>
              </a:defRPr>
            </a:pPr>
            <a:r>
              <a:t>Code Module: routes/ai.js System Prompts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Claude Vision AI system prompts restrict disease treatments strictly to chemicals registered and available in Pakistan (e.g. Topsin-M, Bifenthrin, Urea). Unclear cases trigger Helpline 0800-15000 escalation.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EAB308"/>
                </a:solidFill>
                <a:latin typeface="Inter"/>
              </a:defRPr>
            </a:pPr>
            <a:r>
              <a:t>🌿 AGRO-DIGITAL HERITAGE BRIEFING  |  PUNJAB AGRICULTURAL EXTENSION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Inter"/>
              </a:defRPr>
            </a:pPr>
            <a:r>
              <a:t>6. Financial Operating Cost Audit (Code Verified)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8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DehatiAI Platform  •  Agro-Digital Heritage Evaluation Briefing  •  Page 7 of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6304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011680"/>
                <a:gridCol w="1280160"/>
                <a:gridCol w="1371600"/>
                <a:gridCol w="1493215"/>
              </a:tblGrid>
              <a:tr h="3860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Service 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Purpose / Stack 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Pricing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Prototype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500 DAU (Mo)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5,000 DAU (Mo)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Anthropic Claude API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AI Chat, Vision, Disease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Per-Token Usage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$2.50 (Rs. 695)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$157.50 (Rs. 43.7k)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$1,125.00 (Rs. 312k)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Railway App Server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Express API Node.js Engine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Compute (CPU/RAM)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$12.00 (Rs. 3.3k)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$45.00 (Rs. 12.5k)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Railway PostgreSQL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Primary Database &amp; L2 Cache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Included in Railway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Included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Included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Vercel PWA Hosting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Frontend Static Asset CDN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Bandwidth &amp; Builds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$0.00 (Free)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$20.00 (Rs. 5.5k)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Supabase Auth/Backup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Secondary Fallback Storage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50k MAU Free Tier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$0.00 (Free)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$0.00 (Free)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Open-Meteo Weather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Weather Forecast Feed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Free Public API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$0.00 (Free)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$0.00 (Free)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AMIS Mandi Feed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Commodity Market Rates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Internal DB Storage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$0.00 (Free)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$0.00 (Free)</a:t>
                      </a:r>
                    </a:p>
                  </a:txBody>
                  <a:tcPr>
                    <a:solidFill>
                      <a:srgbClr val="0B1320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B308"/>
                          </a:solidFill>
                          <a:latin typeface="Inter"/>
                        </a:defRPr>
                      </a:pPr>
                      <a:r>
                        <a:t>TOTAL BUDGET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B308"/>
                          </a:solidFill>
                          <a:latin typeface="Inter"/>
                        </a:defRPr>
                      </a:pPr>
                      <a:r>
                        <a:t>Complete Infrastructure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B308"/>
                          </a:solidFill>
                          <a:latin typeface="Inter"/>
                        </a:defRPr>
                      </a:pPr>
                      <a:r>
                        <a:t>Combined Operating Spend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B308"/>
                          </a:solidFill>
                          <a:latin typeface="Inter"/>
                        </a:defRPr>
                      </a:pPr>
                      <a:r>
                        <a:t>Rs. 695 / mo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B308"/>
                          </a:solidFill>
                          <a:latin typeface="Inter"/>
                        </a:defRPr>
                      </a:pPr>
                      <a:r>
                        <a:t>Rs. 47,400 / mo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B308"/>
                          </a:solidFill>
                          <a:latin typeface="Inter"/>
                        </a:defRPr>
                      </a:pPr>
                      <a:r>
                        <a:t>Rs. 331,100 / mo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AB308"/>
                </a:solidFill>
              </a:defRPr>
            </a:pPr>
            <a:r>
              <a:t>⚡ Key Cost Optimization Insight: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</a:defRPr>
            </a:pPr>
            <a:r>
              <a:t>Anthropic Claude API accounts for ~94% of operational spend. Ephemeral System Prompt Caching (implemented in ai.js) cuts input token costs by 90%. Switching routine text queries to Google Gemini 2.0 Flash would reduce 5,000 DAU AI spend from Rs. 312,750 down to Rs. 11,675 / month.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EAB308"/>
                </a:solidFill>
                <a:latin typeface="Inter"/>
              </a:defRPr>
            </a:pPr>
            <a:r>
              <a:t>🌿 AGRO-DIGITAL HERITAGE BRIEFING  |  PUNJAB AGRICULTURAL EXTENSION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Inter"/>
              </a:defRPr>
            </a:pPr>
            <a:r>
              <a:t>7. Security Architecture &amp; Administrative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8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DehatiAI Platform  •  Agro-Digital Heritage Evaluation Briefing  •  Page 8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🔒 Authentication &amp; JWT</a:t>
            </a:r>
          </a:p>
          <a:p>
            <a:pPr>
              <a:spcBef>
                <a:spcPts val="200"/>
              </a:spcBef>
              <a:defRPr sz="850" b="1">
                <a:solidFill>
                  <a:srgbClr val="94A3B8"/>
                </a:solidFill>
              </a:defRPr>
            </a:pPr>
            <a:r>
              <a:t>jsonwebtoken + bcryptjs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Farmer sessions use signed JWT tokens with 30-day expiration. Passwords hashed using bcryptjs (12 rounds). Guest mode creates isolated non-persistent tokens.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63040"/>
            <a:ext cx="5257800" cy="21488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60020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AB308"/>
                </a:solidFill>
              </a:defRPr>
            </a:pPr>
            <a:r>
              <a:t>🛡️ Rate Limiting Safeguards</a:t>
            </a:r>
          </a:p>
          <a:p>
            <a:pPr>
              <a:spcBef>
                <a:spcPts val="200"/>
              </a:spcBef>
              <a:defRPr sz="850" b="1">
                <a:solidFill>
                  <a:srgbClr val="94A3B8"/>
                </a:solidFill>
              </a:defRPr>
            </a:pPr>
            <a:r>
              <a:t>express-rate-limit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Global API limit of 200 req/15min per IP. AI endpoints enforced at 30 calls/hr per IP to protect against token exhaustion attacks.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57800" cy="21488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📋 Immutable Audit Logging</a:t>
            </a:r>
          </a:p>
          <a:p>
            <a:pPr>
              <a:spcBef>
                <a:spcPts val="200"/>
              </a:spcBef>
              <a:defRPr sz="850" b="1">
                <a:solidFill>
                  <a:srgbClr val="94A3B8"/>
                </a:solidFill>
              </a:defRPr>
            </a:pPr>
            <a:r>
              <a:t>admin_audit_logs table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Every sensitive admin action (price update, user deletion, cache flush, alert dispatch) logs admin_id, IP address, action_type, and timestamp.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840480"/>
            <a:ext cx="5257800" cy="214884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7764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⚠️ Honest Status (In Progress)</a:t>
            </a:r>
          </a:p>
          <a:p>
            <a:pPr>
              <a:spcBef>
                <a:spcPts val="200"/>
              </a:spcBef>
              <a:defRPr sz="850" b="1">
                <a:solidFill>
                  <a:srgbClr val="94A3B8"/>
                </a:solidFill>
              </a:defRPr>
            </a:pPr>
            <a:r>
              <a:t>Security Road Map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Current authentication uses JWT secret fallback in dev mode. Production deployment requires mandatory exit if JWT_SECRET environment variable is missing.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EAB308"/>
                </a:solidFill>
                <a:latin typeface="Inter"/>
              </a:defRPr>
            </a:pPr>
            <a:r>
              <a:t>🌿 AGRO-DIGITAL HERITAGE BRIEFING  |  PUNJAB AGRICULTURAL EXTENSION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Inter"/>
              </a:defRPr>
            </a:pPr>
            <a:r>
              <a:t>8. Projected Social &amp; Economic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8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DehatiAI Platform  •  Agro-Digital Heritage Evaluation Briefing  •  Page 9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8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B308"/>
                </a:solidFill>
              </a:defRPr>
            </a:pPr>
            <a:r>
              <a:t>🌾 25% Reduction in Pre-Harvest Loss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Early computer vision detection of crop diseases allows intervention before fungal spores spread across fields, saving smallholders up to 25% of yield.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63040"/>
            <a:ext cx="5257800" cy="2148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8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64592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B308"/>
                </a:solidFill>
              </a:defRPr>
            </a:pPr>
            <a:r>
              <a:t>💰 12-15% Income Margin Boost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Real-time Mandi price transparency eliminates information asymmetry when negotiating with commission agents (Arhtis) at farm-gate.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57800" cy="2148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8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B308"/>
                </a:solidFill>
              </a:defRPr>
            </a:pPr>
            <a:r>
              <a:t>📢 Instant Disaster Communication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District Emergency Alert Dispatcher allows provincial authorities to broadcast locust or frost warnings to thousands of farmers in seconds.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840480"/>
            <a:ext cx="5257800" cy="2148840"/>
          </a:xfrm>
          <a:prstGeom prst="roundRect">
            <a:avLst/>
          </a:prstGeom>
          <a:solidFill>
            <a:srgbClr val="162032"/>
          </a:solidFill>
          <a:ln w="12700">
            <a:solidFill>
              <a:srgbClr val="283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02336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B308"/>
                </a:solidFill>
              </a:defRPr>
            </a:pPr>
            <a:r>
              <a:t>🌐 UN SDG Alignment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Directly advances UN Sustainable Development Goals: #1 No Poverty, #2 Zero Hunger, #8 Decent Work, and #13 Climate 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EAB308"/>
                </a:solidFill>
                <a:latin typeface="Inter"/>
              </a:defRPr>
            </a:pPr>
            <a:r>
              <a:t>🌿 AGRO-DIGITAL HERITAGE BRIEFING  |  PUNJAB AGRICULTURAL EXTENSION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Inter"/>
              </a:defRPr>
            </a:pPr>
            <a:r>
              <a:t>9. Product Roadmap: Shipped vs. Future Horizons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8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DehatiAI Platform  •  Agro-Digital Heritage Evaluation Briefing  •  Page 10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57800" cy="457200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✅ SHIPPED TODAY (v1.0 Codebase)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• Multilingual Voice Q&amp;A Engine (Urdu &amp; Punjabi)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• Claude 3.5 Sonnet Vision Crop Disease Scanner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• Open-Meteo Weather API + Timeout/Fallback Guard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• Mandi Commodity Prices &amp; Admin Management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• 2-Tier Cache (L1 Memory + L2 PostgreSQL)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• Admin Panel: AI Cost Tracker &amp; Audit Log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• District Emergency Broadcast Alert Dispatcher</a:t>
            </a:r>
          </a:p>
          <a:p>
            <a:pPr>
              <a:spcBef>
                <a:spcPts val="600"/>
              </a:spcBef>
              <a:defRPr sz="950">
                <a:solidFill>
                  <a:srgbClr val="FFFFFF"/>
                </a:solidFill>
              </a:defRPr>
            </a:pPr>
            <a:r>
              <a:t>• PWA Offline Shell &amp; Noto Nastaliq Urdu Fonts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42255" cy="457200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8764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B308"/>
                </a:solidFill>
              </a:defRPr>
            </a:pPr>
            <a:r>
              <a:t>🚀 FUTURE ROADMAP (Planned)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WhatsApp Cloud API Integration (Voice message support via WhatsApp)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Direct AMIS Punjab Market API Feed Synchronization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IoT Soil Moisture &amp; NPK Sensor Bluetooth Sync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Satellite Vegetation Index (NDVI) Remote Sensing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LLM Migration to Gemini 2.0 Flash (96% Cost Savings)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Offline Native Android APK Packaging via Capacitor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731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EAB308"/>
                </a:solidFill>
                <a:latin typeface="Inter"/>
              </a:defRPr>
            </a:pPr>
            <a:r>
              <a:t>🌿 AGRO-DIGITAL HERITAGE BRIEFING  |  PUNJAB AGRICULTURAL EXTENSION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Inter"/>
              </a:defRPr>
            </a:pPr>
            <a:r>
              <a:t>10. Proposed Next Steps &amp; Government Collaboration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28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DehatiAI Platform  •  Agro-Digital Heritage Evaluation Briefing  •  Page 11 of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1. Pilot District Access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Request authorization for a 3-month pilot deployment in Multan and Khanewal districts targeting 10,000 smallholders.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728655" cy="105156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AB308"/>
                </a:solidFill>
              </a:defRPr>
            </a:pPr>
            <a:r>
              <a:t>2. Official AMIS Data Access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Establish direct API connection with Punjab Agriculture Marketing Regulatory Authority (PAMRA) for automated Mandi rate syncing.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3. Extension Officer Integration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Equip local Field Extension Officers with DehatiAI Admin access to dispatch localized disease warnings.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728655" cy="105156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4. Infrastructure Co-Location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t>Transition backend hosting from Railway/Vercel to Punjab Information Technology Board (PITB) cloud data centers.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91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9448495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554480"/>
            <a:ext cx="889985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B308"/>
                </a:solidFill>
              </a:defRPr>
            </a:pPr>
            <a:r>
              <a:t>🌾 AGRO-DIGITAL HERITAGE BRIEFING  •  DEHATIAI PLATFORM</a:t>
            </a:r>
          </a:p>
          <a:p>
            <a:pPr>
              <a:spcBef>
                <a:spcPts val="600"/>
              </a:spcBef>
              <a:defRPr sz="2800" b="1">
                <a:solidFill>
                  <a:srgbClr val="FFFFFF"/>
                </a:solidFill>
              </a:defRPr>
            </a:pPr>
            <a:r>
              <a:t>Empowering Every Acre Across Punjab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Thank you for evaluating DehatiAI. We are ready to deploy, integrate, and scale to transform agricultural extension for smallholders in Pakistan.</a:t>
            </a:r>
          </a:p>
          <a:p>
            <a:br/>
            <a:pPr>
              <a:spcBef>
                <a:spcPts val="1400"/>
              </a:spcBef>
              <a:defRPr sz="1050" b="1">
                <a:solidFill>
                  <a:srgbClr val="10B981"/>
                </a:solidFill>
              </a:defRPr>
            </a:pPr>
            <a:r>
              <a:t>LIVE DEMO PLATFORM: https://dehati-ai.vercel.app</a:t>
            </a:r>
            <a:br/>
            <a:r>
              <a:t>ADMIN CONTROL PANEL: https://dehati-ai.vercel.app/admin</a:t>
            </a:r>
            <a:br/>
            <a:r>
              <a:t>GITHUB REPOSITORY: https://github.com/jahanzaibahmad630-bit/Dehati-AI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Inter"/>
              </a:defRPr>
            </a:pPr>
            <a:r>
              <a:t>DehatiAI Platform  •  Agro-Digital Heritage Evaluation Briefing  •  Page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